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94" r:id="rId6"/>
    <p:sldId id="295" r:id="rId7"/>
    <p:sldId id="296" r:id="rId8"/>
    <p:sldId id="297" r:id="rId9"/>
    <p:sldId id="262" r:id="rId10"/>
    <p:sldId id="298" r:id="rId11"/>
    <p:sldId id="267" r:id="rId12"/>
    <p:sldId id="268" r:id="rId13"/>
    <p:sldId id="299" r:id="rId14"/>
    <p:sldId id="300" r:id="rId15"/>
    <p:sldId id="301" r:id="rId16"/>
    <p:sldId id="302" r:id="rId17"/>
    <p:sldId id="277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adaabhi07@gmail.com" userId="730b38fcd4d06356" providerId="LiveId" clId="{92C28D47-13FB-48D7-88BD-0E8427C8621C}"/>
    <pc:docChg chg="modSld">
      <pc:chgData name="kyadaabhi07@gmail.com" userId="730b38fcd4d06356" providerId="LiveId" clId="{92C28D47-13FB-48D7-88BD-0E8427C8621C}" dt="2026-07-01T04:31:41.630" v="66" actId="20577"/>
      <pc:docMkLst>
        <pc:docMk/>
      </pc:docMkLst>
      <pc:sldChg chg="modSp mod">
        <pc:chgData name="kyadaabhi07@gmail.com" userId="730b38fcd4d06356" providerId="LiveId" clId="{92C28D47-13FB-48D7-88BD-0E8427C8621C}" dt="2026-07-01T04:31:41.630" v="66" actId="20577"/>
        <pc:sldMkLst>
          <pc:docMk/>
          <pc:sldMk cId="0" sldId="256"/>
        </pc:sldMkLst>
        <pc:spChg chg="mod">
          <ac:chgData name="kyadaabhi07@gmail.com" userId="730b38fcd4d06356" providerId="LiveId" clId="{92C28D47-13FB-48D7-88BD-0E8427C8621C}" dt="2026-07-01T02:35:59.255" v="25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kyadaabhi07@gmail.com" userId="730b38fcd4d06356" providerId="LiveId" clId="{92C28D47-13FB-48D7-88BD-0E8427C8621C}" dt="2026-07-01T04:31:41.630" v="66" actId="20577"/>
          <ac:spMkLst>
            <pc:docMk/>
            <pc:sldMk cId="0" sldId="256"/>
            <ac:spMk id="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225B0E7-2D7F-4CF5-8281-9EDB744753EC}" type="datetimeFigureOut">
              <a:rPr lang="en-US"/>
              <a:t>7/1/2026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72B9B29-0C7C-4730-8B0B-EDA3ECFDAC81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524000" y="156064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524000" y="2762006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0" y="6510338"/>
            <a:ext cx="12192000" cy="347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8288" y="242274"/>
            <a:ext cx="9144000" cy="2441232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2938028"/>
            <a:ext cx="2836862" cy="415024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765046" y="2929926"/>
            <a:ext cx="2836862" cy="423126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8006092" y="2940750"/>
            <a:ext cx="2836862" cy="423126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>
          <a:xfrm>
            <a:off x="301870" y="6527434"/>
            <a:ext cx="2743200" cy="365125"/>
          </a:xfrm>
        </p:spPr>
        <p:txBody>
          <a:bodyPr/>
          <a:lstStyle/>
          <a:p>
            <a:pPr>
              <a:defRPr/>
            </a:pPr>
            <a:fld id="{586DEB10-948E-4C3B-B2BE-D2483833BED9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>
          <a:xfrm>
            <a:off x="3959470" y="6492875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CSPIT-CSE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8534400" y="6521162"/>
            <a:ext cx="2743200" cy="365125"/>
          </a:xfrm>
        </p:spPr>
        <p:txBody>
          <a:bodyPr/>
          <a:lstStyle/>
          <a:p>
            <a:pPr>
              <a:defRPr/>
            </a:pPr>
            <a:fld id="{8A78EEC4-A080-48C4-A6ED-123107169FA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518275"/>
            <a:ext cx="12192000" cy="34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0" y="6500813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AC17328-A253-4C5B-B2C9-4DA48294863A}" type="datetime1">
              <a:rPr lang="en-US"/>
              <a:t>7/1/2026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4038600" y="6518275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CSPIT-CSE</a:t>
            </a:r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9448800" y="6518275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58B1524-9549-4C6F-982A-A4BBA9A888C3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86DEB10-948E-4C3B-B2BE-D2483833BED9}" type="datetime1">
              <a:rPr lang="en-US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CSPIT-CSE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A78EEC4-A080-48C4-A6ED-123107169FA4}" type="slidenum">
              <a:rPr lang="en-US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485120"/>
            <a:ext cx="12192000" cy="34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Placeholder 2"/>
          <p:cNvSpPr>
            <a:spLocks noGrp="1" noChangeArrowheads="1"/>
          </p:cNvSpPr>
          <p:nvPr>
            <p:ph type="body" sz="quarter" idx="10"/>
          </p:nvPr>
        </p:nvSpPr>
        <p:spPr>
          <a:xfrm>
            <a:off x="4718872" y="4561473"/>
            <a:ext cx="2959409" cy="415024"/>
          </a:xfrm>
        </p:spPr>
        <p:txBody>
          <a:bodyPr/>
          <a:lstStyle/>
          <a:p>
            <a:r>
              <a:rPr lang="en-US" altLang="en-US" dirty="0"/>
              <a:t>External Guide(s)</a:t>
            </a:r>
          </a:p>
        </p:txBody>
      </p:sp>
      <p:sp>
        <p:nvSpPr>
          <p:cNvPr id="10244" name="Text Placeholder 3"/>
          <p:cNvSpPr>
            <a:spLocks noGrp="1" noChangeArrowheads="1"/>
          </p:cNvSpPr>
          <p:nvPr>
            <p:ph type="body" sz="quarter" idx="11"/>
          </p:nvPr>
        </p:nvSpPr>
        <p:spPr>
          <a:xfrm>
            <a:off x="7855548" y="4550625"/>
            <a:ext cx="2836862" cy="423126"/>
          </a:xfrm>
        </p:spPr>
        <p:txBody>
          <a:bodyPr/>
          <a:lstStyle/>
          <a:p>
            <a:r>
              <a:rPr lang="en-US" altLang="en-US" dirty="0"/>
              <a:t>Internal Guide(s)</a:t>
            </a:r>
          </a:p>
        </p:txBody>
      </p:sp>
      <p:sp>
        <p:nvSpPr>
          <p:cNvPr id="10245" name="Text Placeholder 4"/>
          <p:cNvSpPr>
            <a:spLocks noGrp="1" noChangeArrowheads="1"/>
          </p:cNvSpPr>
          <p:nvPr>
            <p:ph type="body" sz="quarter" idx="12"/>
          </p:nvPr>
        </p:nvSpPr>
        <p:spPr>
          <a:xfrm>
            <a:off x="1435882" y="4578328"/>
            <a:ext cx="2836862" cy="423126"/>
          </a:xfrm>
        </p:spPr>
        <p:txBody>
          <a:bodyPr/>
          <a:lstStyle/>
          <a:p>
            <a:r>
              <a:rPr lang="en-US" altLang="en-US" dirty="0"/>
              <a:t>Prepared By</a:t>
            </a:r>
          </a:p>
        </p:txBody>
      </p:sp>
      <p:pic>
        <p:nvPicPr>
          <p:cNvPr id="26" name="Content Placeholder 25"/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" y="6930"/>
            <a:ext cx="1497761" cy="1103313"/>
          </a:xfrm>
        </p:spPr>
      </p:pic>
      <p:pic>
        <p:nvPicPr>
          <p:cNvPr id="27" name="Content Placeholder 26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5349" y="206984"/>
            <a:ext cx="3079933" cy="707954"/>
          </a:xfrm>
        </p:spPr>
      </p:pic>
      <p:cxnSp>
        <p:nvCxnSpPr>
          <p:cNvPr id="6" name="Straight Connector 5"/>
          <p:cNvCxnSpPr/>
          <p:nvPr/>
        </p:nvCxnSpPr>
        <p:spPr>
          <a:xfrm>
            <a:off x="1520825" y="1103313"/>
            <a:ext cx="91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35378" y="115048"/>
            <a:ext cx="7561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CHANDUBHAI S PATEL INSTITUTE OF TECHNOLOGY</a:t>
            </a:r>
            <a:endParaRPr lang="en-I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60830" y="5023344"/>
            <a:ext cx="2959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Prof. ()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Department of Computer Science &amp; Engineering</a:t>
            </a:r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3911600" y="5052382"/>
            <a:ext cx="4473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Jevin </a:t>
            </a:r>
            <a:r>
              <a:rPr lang="en-US" b="1" dirty="0" err="1"/>
              <a:t>Ambaliya</a:t>
            </a:r>
            <a:r>
              <a:rPr lang="en-US" b="1" dirty="0"/>
              <a:t> </a:t>
            </a:r>
            <a:endParaRPr lang="en-US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Program Coordinator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REALLOC INFOTECH PVT.LTD</a:t>
            </a:r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846098" y="5052382"/>
            <a:ext cx="2961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IN" dirty="0"/>
              <a:t>           Abhi </a:t>
            </a:r>
            <a:r>
              <a:rPr lang="en-US" altLang="en-IN" dirty="0" err="1"/>
              <a:t>Kyada</a:t>
            </a:r>
            <a:r>
              <a:rPr lang="en-US" altLang="en-IN" dirty="0"/>
              <a:t>(24cs043)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8094" y="619759"/>
            <a:ext cx="7561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DEPARTMENT OF COMPUTER SCIENCE AND ENGINEERING</a:t>
            </a:r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18268" y="1189416"/>
            <a:ext cx="9160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Summer Internship-I(CSE306)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8275"/>
            <a:ext cx="12192000" cy="34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99981" y="1954575"/>
            <a:ext cx="10216151" cy="763985"/>
          </a:xfrm>
        </p:spPr>
        <p:txBody>
          <a:bodyPr/>
          <a:lstStyle/>
          <a:p>
            <a:r>
              <a:rPr lang="en-US" sz="4000" dirty="0"/>
              <a:t>Finance Management System</a:t>
            </a:r>
            <a:endParaRPr lang="en-IN" sz="4000" dirty="0"/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4B08B785-5B39-B4FE-13BC-6DAF620B71EF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18873" y="3206749"/>
            <a:ext cx="2605658" cy="1231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6650"/>
          </a:xfrm>
        </p:spPr>
        <p:txBody>
          <a:bodyPr/>
          <a:lstStyle/>
          <a:p>
            <a:r>
              <a:rPr lang="en-US" dirty="0">
                <a:latin typeface="Times New Roman "/>
              </a:rPr>
              <a:t>Agenda</a:t>
            </a:r>
            <a:endParaRPr lang="en-IN" dirty="0">
              <a:latin typeface="Times New Roman 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3029"/>
            <a:ext cx="10515600" cy="4593836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Definition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 Used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Description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Roles &amp; Responsibilities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Done (Screenshots)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 of Internship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9004"/>
            <a:ext cx="10515600" cy="1101561"/>
          </a:xfrm>
        </p:spPr>
        <p:txBody>
          <a:bodyPr/>
          <a:lstStyle/>
          <a:p>
            <a:br>
              <a:rPr lang="en-IN" b="1" dirty="0"/>
            </a:br>
            <a:r>
              <a:rPr lang="en-IN" b="1" dirty="0"/>
              <a:t>Finance Management System :</a:t>
            </a:r>
            <a:br>
              <a:rPr lang="en-US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1470"/>
            <a:ext cx="10515600" cy="4351338"/>
          </a:xfrm>
        </p:spPr>
        <p:txBody>
          <a:bodyPr/>
          <a:lstStyle/>
          <a:p>
            <a:r>
              <a:rPr lang="en-IN" b="1" dirty="0" err="1"/>
              <a:t>Finsnce</a:t>
            </a:r>
            <a:r>
              <a:rPr lang="en-IN" b="1" dirty="0"/>
              <a:t> ERP</a:t>
            </a:r>
            <a:r>
              <a:rPr lang="en-IN" dirty="0"/>
              <a:t> is a modern, lightweight, full-stack Enterprise Resource Planning (ERP) application designed for small to medium businesses (SMBs) in India to manage their day-to-day business operations, billing, stocks, and financial logs.</a:t>
            </a:r>
          </a:p>
          <a:p>
            <a:endParaRPr lang="en-IN" dirty="0"/>
          </a:p>
          <a:p>
            <a:r>
              <a:rPr lang="en-IN" dirty="0"/>
              <a:t>It is structured to run locally on a </a:t>
            </a:r>
            <a:r>
              <a:rPr lang="en-IN" b="1" dirty="0"/>
              <a:t>XAMPP</a:t>
            </a:r>
            <a:r>
              <a:rPr lang="en-IN" dirty="0"/>
              <a:t> environment (Apache, MySQL, and PHP) on Windows.</a:t>
            </a:r>
          </a:p>
          <a:p>
            <a:pPr algn="just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BE844F7-3728-A510-E042-1B8688825082}"/>
              </a:ext>
            </a:extLst>
          </p:cNvPr>
          <p:cNvSpPr txBox="1">
            <a:spLocks/>
          </p:cNvSpPr>
          <p:nvPr/>
        </p:nvSpPr>
        <p:spPr bwMode="auto">
          <a:xfrm>
            <a:off x="838200" y="0"/>
            <a:ext cx="10515600" cy="1129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br>
              <a:rPr lang="en-IN" b="1" dirty="0"/>
            </a:br>
            <a:br>
              <a:rPr lang="en-IN" b="1" dirty="0"/>
            </a:br>
            <a:r>
              <a:rPr lang="en-IN" b="1" dirty="0"/>
              <a:t>Introduction</a:t>
            </a:r>
            <a:br>
              <a:rPr lang="en-US" b="1" dirty="0"/>
            </a:br>
            <a:br>
              <a:rPr lang="en-IN" b="1" dirty="0"/>
            </a:b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5E3A-65A3-5942-D6E1-1BC51789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6674-4A0E-DEB7-04BA-42AB3955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88"/>
          </a:xfrm>
        </p:spPr>
        <p:txBody>
          <a:bodyPr/>
          <a:lstStyle/>
          <a:p>
            <a:br>
              <a:rPr lang="en-IN" b="1" dirty="0"/>
            </a:br>
            <a:r>
              <a:rPr lang="en-IN" b="1" dirty="0"/>
              <a:t>Objective For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7A14-6F10-B65B-E280-A30E97E82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u="sng" dirty="0"/>
              <a:t>1. Invoicing &amp; Billing (Sales Bills)</a:t>
            </a:r>
          </a:p>
          <a:p>
            <a:endParaRPr lang="en-IN" sz="3200" b="1" u="sng" dirty="0"/>
          </a:p>
          <a:p>
            <a:r>
              <a:rPr lang="en-IN" sz="2400" b="1" dirty="0"/>
              <a:t>Classical GST-Compliant Layout</a:t>
            </a:r>
            <a:r>
              <a:rPr lang="en-IN" sz="2400" dirty="0"/>
              <a:t>: Generates professional, double-bordered print invoices including customer details, serial numbers, HSN codes, signature spaces, and bank details.</a:t>
            </a:r>
          </a:p>
          <a:p>
            <a:r>
              <a:rPr lang="en-IN" sz="2400" b="1" dirty="0"/>
              <a:t>State-Based GST Splits</a:t>
            </a:r>
            <a:r>
              <a:rPr lang="en-IN" sz="2400" dirty="0"/>
              <a:t>: Automatically detects if the customer is local (Intra-state) and splits tax into </a:t>
            </a:r>
            <a:r>
              <a:rPr lang="en-IN" sz="2400" b="1" dirty="0"/>
              <a:t>CGST</a:t>
            </a:r>
            <a:r>
              <a:rPr lang="en-IN" sz="2400" dirty="0"/>
              <a:t> and </a:t>
            </a:r>
            <a:r>
              <a:rPr lang="en-IN" sz="2400" b="1" dirty="0"/>
              <a:t>SGST</a:t>
            </a:r>
            <a:r>
              <a:rPr lang="en-IN" sz="2400" dirty="0"/>
              <a:t> (each at half of the total rate), or renders </a:t>
            </a:r>
            <a:r>
              <a:rPr lang="en-IN" sz="2400" b="1" dirty="0"/>
              <a:t>IGST</a:t>
            </a:r>
            <a:r>
              <a:rPr lang="en-IN" sz="2400" dirty="0"/>
              <a:t> (for Inter-state clients).</a:t>
            </a:r>
          </a:p>
          <a:p>
            <a:r>
              <a:rPr lang="en-IN" sz="2400" b="1" dirty="0"/>
              <a:t>Indian Currency Number-to-Words</a:t>
            </a:r>
            <a:r>
              <a:rPr lang="en-IN" sz="2400" dirty="0"/>
              <a:t>: Dynamically translates invoice grand totals into words (e.g. FORTY FOUR THOUSAND FIVE HUNDRED RUPEES ONLY).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74AAE-3DDD-F89F-3D09-BCE55FAF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F939-50A7-805F-6944-474E3A33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63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5E3A-65A3-5942-D6E1-1BC51789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6674-4A0E-DEB7-04BA-42AB3955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88"/>
          </a:xfrm>
        </p:spPr>
        <p:txBody>
          <a:bodyPr/>
          <a:lstStyle/>
          <a:p>
            <a:br>
              <a:rPr lang="en-IN" b="1" dirty="0"/>
            </a:br>
            <a:r>
              <a:rPr lang="en-IN" b="1" dirty="0"/>
              <a:t>Objective For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7A14-6F10-B65B-E280-A30E97E82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TDS/TCS Integration</a:t>
            </a:r>
            <a:r>
              <a:rPr lang="en-IN" sz="2400" dirty="0"/>
              <a:t>: Allows adding TCS or TDS percentages and values which dynamically update the invoice totals.</a:t>
            </a:r>
          </a:p>
          <a:p>
            <a:r>
              <a:rPr lang="en-IN" sz="2400" b="1" dirty="0"/>
              <a:t>One-Click Actions</a:t>
            </a:r>
            <a:r>
              <a:rPr lang="en-IN" sz="2400" dirty="0"/>
              <a:t>: Integrated sharing prompts to share invoices instantly via </a:t>
            </a:r>
            <a:r>
              <a:rPr lang="en-IN" sz="2400" b="1" dirty="0"/>
              <a:t>WhatsApp</a:t>
            </a:r>
            <a:r>
              <a:rPr lang="en-IN" sz="2400" dirty="0"/>
              <a:t> or </a:t>
            </a:r>
            <a:r>
              <a:rPr lang="en-IN" sz="2400" b="1" dirty="0"/>
              <a:t>Email</a:t>
            </a:r>
            <a:r>
              <a:rPr lang="en-IN" sz="2400" dirty="0"/>
              <a:t>, and a custom print layout optimized for printer settings.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74AAE-3DDD-F89F-3D09-BCE55FAF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F939-50A7-805F-6944-474E3A33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27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5E3A-65A3-5942-D6E1-1BC51789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6674-4A0E-DEB7-04BA-42AB3955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88"/>
          </a:xfrm>
        </p:spPr>
        <p:txBody>
          <a:bodyPr/>
          <a:lstStyle/>
          <a:p>
            <a:br>
              <a:rPr lang="en-IN" b="1" dirty="0"/>
            </a:br>
            <a:r>
              <a:rPr lang="en-IN" b="1" dirty="0"/>
              <a:t>Objective For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7A14-6F10-B65B-E280-A30E97E82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u="sng" dirty="0"/>
              <a:t>2. Client &amp; Party Management</a:t>
            </a:r>
          </a:p>
          <a:p>
            <a:endParaRPr lang="en-IN" sz="2400" b="1" dirty="0"/>
          </a:p>
          <a:p>
            <a:r>
              <a:rPr lang="en-IN" sz="2400" dirty="0"/>
              <a:t>Stores critical business parameters like </a:t>
            </a:r>
            <a:r>
              <a:rPr lang="en-IN" sz="2400" b="1" dirty="0"/>
              <a:t>Company Name</a:t>
            </a:r>
            <a:r>
              <a:rPr lang="en-IN" sz="2400" dirty="0"/>
              <a:t>, </a:t>
            </a:r>
            <a:r>
              <a:rPr lang="en-IN" sz="2400" b="1" dirty="0"/>
              <a:t>Billing Address</a:t>
            </a:r>
            <a:r>
              <a:rPr lang="en-IN" sz="2400" dirty="0"/>
              <a:t>, </a:t>
            </a:r>
            <a:r>
              <a:rPr lang="en-IN" sz="2400" b="1" dirty="0"/>
              <a:t>GSTIN</a:t>
            </a:r>
            <a:r>
              <a:rPr lang="en-IN" sz="2400" dirty="0"/>
              <a:t>, and </a:t>
            </a:r>
            <a:r>
              <a:rPr lang="en-IN" sz="2400" b="1" dirty="0"/>
              <a:t>PAN Number</a:t>
            </a:r>
            <a:r>
              <a:rPr lang="en-IN" sz="2400" dirty="0"/>
              <a:t>.</a:t>
            </a:r>
          </a:p>
          <a:p>
            <a:r>
              <a:rPr lang="en-IN" sz="2400" dirty="0"/>
              <a:t>Classifies parties into clients (billed to) and suppliers.</a:t>
            </a:r>
          </a:p>
          <a:p>
            <a:endParaRPr lang="en-IN" sz="2400" dirty="0"/>
          </a:p>
          <a:p>
            <a:r>
              <a:rPr lang="en-IN" sz="3200" b="1" u="sng" dirty="0"/>
              <a:t>3. Product </a:t>
            </a:r>
            <a:r>
              <a:rPr lang="en-IN" sz="3200" b="1" u="sng" dirty="0" err="1"/>
              <a:t>Catalog</a:t>
            </a:r>
            <a:r>
              <a:rPr lang="en-IN" sz="3200" b="1" u="sng" dirty="0"/>
              <a:t> &amp; Inventory</a:t>
            </a:r>
          </a:p>
          <a:p>
            <a:endParaRPr lang="en-IN" sz="2400" dirty="0"/>
          </a:p>
          <a:p>
            <a:r>
              <a:rPr lang="en-IN" sz="2400" dirty="0"/>
              <a:t>Caches product codes, item descriptions, and HSN numbers.</a:t>
            </a:r>
          </a:p>
          <a:p>
            <a:r>
              <a:rPr lang="en-IN" sz="2400" dirty="0"/>
              <a:t>Keeps track of custom metrics/units (e.g. Pcs, Box, Meters) and stock balances.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74AAE-3DDD-F89F-3D09-BCE55FAF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F939-50A7-805F-6944-474E3A33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273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5E3A-65A3-5942-D6E1-1BC51789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6674-4A0E-DEB7-04BA-42AB3955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88"/>
          </a:xfrm>
        </p:spPr>
        <p:txBody>
          <a:bodyPr/>
          <a:lstStyle/>
          <a:p>
            <a:br>
              <a:rPr lang="en-IN" b="1" dirty="0"/>
            </a:br>
            <a:r>
              <a:rPr lang="en-IN" b="1" dirty="0"/>
              <a:t>Objective For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7A14-6F10-B65B-E280-A30E97E82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u="sng" dirty="0"/>
              <a:t>4. Financial Trackers (Purchase, Expenses, and Transactions)</a:t>
            </a:r>
          </a:p>
          <a:p>
            <a:endParaRPr lang="en-IN" sz="3200" b="1" u="sng" dirty="0"/>
          </a:p>
          <a:p>
            <a:r>
              <a:rPr lang="en-IN" b="1" dirty="0"/>
              <a:t>Purchase Bills</a:t>
            </a:r>
            <a:r>
              <a:rPr lang="en-IN" dirty="0"/>
              <a:t>: Log incoming supplier invoices to manage account payables.</a:t>
            </a:r>
          </a:p>
          <a:p>
            <a:r>
              <a:rPr lang="en-IN" b="1" dirty="0"/>
              <a:t>Expense Tracker</a:t>
            </a:r>
            <a:r>
              <a:rPr lang="en-IN" dirty="0"/>
              <a:t>: Log business expenses (rent, utility bills, salaries, etc.) to keep cash flow statistics accurate.</a:t>
            </a:r>
          </a:p>
          <a:p>
            <a:r>
              <a:rPr lang="en-IN" b="1" dirty="0"/>
              <a:t>Transactions Logger</a:t>
            </a:r>
            <a:r>
              <a:rPr lang="en-IN" dirty="0"/>
              <a:t>: View timeline of all ledger payment histories.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74AAE-3DDD-F89F-3D09-BCE55FAF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F939-50A7-805F-6944-474E3A33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926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39C8-CF31-8799-E2B0-F7707CFC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84EFF-0068-FEAD-1D3F-46A1435BC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88"/>
          </a:xfrm>
        </p:spPr>
        <p:txBody>
          <a:bodyPr/>
          <a:lstStyle/>
          <a:p>
            <a:br>
              <a:rPr lang="en-IN" b="1" dirty="0"/>
            </a:br>
            <a:r>
              <a:rPr lang="en-IN" b="1" dirty="0"/>
              <a:t>Objective For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27349-F461-0778-736F-FE13B91CC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u="sng" dirty="0"/>
              <a:t>5. Interactive Dashboard</a:t>
            </a:r>
          </a:p>
          <a:p>
            <a:endParaRPr lang="en-IN" sz="3200" b="1" u="sng" dirty="0"/>
          </a:p>
          <a:p>
            <a:r>
              <a:rPr lang="en-IN" dirty="0"/>
              <a:t>Provides high-level statistics like Total Sales, Total Purchases, Total Expenses, and Active Suppliers.</a:t>
            </a:r>
          </a:p>
          <a:p>
            <a:r>
              <a:rPr lang="en-IN" b="1" dirty="0"/>
              <a:t>System Settings Profile</a:t>
            </a:r>
            <a:r>
              <a:rPr lang="en-IN" dirty="0"/>
              <a:t>: Allows configuring your own shop details (Shop name, Address, State, GSTIN, PAN, MSME) and Bank account information (Account Type, IFSC, A/c Number) which automatically injects into your printed invoices.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19943-FC4C-4BFD-05A0-966E0904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065A0-04FD-33D8-EDEE-C750CC1C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859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02ED-E537-B8EC-7133-861425AD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251E-A7CF-12FC-C5B5-07F4B5F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88"/>
          </a:xfrm>
        </p:spPr>
        <p:txBody>
          <a:bodyPr/>
          <a:lstStyle/>
          <a:p>
            <a:r>
              <a:rPr lang="en-IN" dirty="0"/>
              <a:t>Technologies Used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9927E32-533C-54C0-3AF4-FF5D3CD09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680377"/>
              </p:ext>
            </p:extLst>
          </p:nvPr>
        </p:nvGraphicFramePr>
        <p:xfrm>
          <a:off x="1090127" y="1693359"/>
          <a:ext cx="8727142" cy="7055840"/>
        </p:xfrm>
        <a:graphic>
          <a:graphicData uri="http://schemas.openxmlformats.org/drawingml/2006/table">
            <a:tbl>
              <a:tblPr/>
              <a:tblGrid>
                <a:gridCol w="4363571">
                  <a:extLst>
                    <a:ext uri="{9D8B030D-6E8A-4147-A177-3AD203B41FA5}">
                      <a16:colId xmlns:a16="http://schemas.microsoft.com/office/drawing/2014/main" val="4205462730"/>
                    </a:ext>
                  </a:extLst>
                </a:gridCol>
                <a:gridCol w="4363571">
                  <a:extLst>
                    <a:ext uri="{9D8B030D-6E8A-4147-A177-3AD203B41FA5}">
                      <a16:colId xmlns:a16="http://schemas.microsoft.com/office/drawing/2014/main" val="2526717296"/>
                    </a:ext>
                  </a:extLst>
                </a:gridCol>
              </a:tblGrid>
              <a:tr h="313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Technology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316587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HTML5 (Structural Base)                                       </a:t>
                      </a:r>
                    </a:p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Forms the structure and skeleton of all interface layouts.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7271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JavaScript (Client-Side Interactivity)</a:t>
                      </a:r>
                    </a:p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Runs dynamic logic directly inside the user's browser.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209386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CSS3 (Layout, Theme, &amp; Print Rules)</a:t>
                      </a:r>
                    </a:p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Styles the UI aesthetics and controls print formatting.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72390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Bootstrap 5 (CSS/JS Framework)</a:t>
                      </a:r>
                    </a:p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Ensures responsive grids, clean forms, and robust popups.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80697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 (Server-Side Backend)</a:t>
                      </a:r>
                    </a:p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Handles server-side business logic and request processing.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586401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 (Relational Database)</a:t>
                      </a:r>
                    </a:p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Stores and manages all system data securely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270974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257457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368048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903147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223882"/>
                  </a:ext>
                </a:extLst>
              </a:tr>
              <a:tr h="3732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256544"/>
                  </a:ext>
                </a:extLst>
              </a:tr>
              <a:tr h="3131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54444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A3869-5BBB-ECF4-D871-A9AA9A3E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961C8-1E28-AC9E-1DB2-449B5254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675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0BE59-865A-1986-C2B1-3E20092F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4536-A5AF-33A0-0109-84DFA4AE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88"/>
          </a:xfrm>
        </p:spPr>
        <p:txBody>
          <a:bodyPr/>
          <a:lstStyle/>
          <a:p>
            <a:r>
              <a:rPr lang="en-IN" dirty="0"/>
              <a:t>Roles &amp;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21ADD-4BF5-7B2F-8FD6-747C84545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314"/>
            <a:ext cx="10515600" cy="4351338"/>
          </a:xfrm>
        </p:spPr>
        <p:txBody>
          <a:bodyPr/>
          <a:lstStyle/>
          <a:p>
            <a:r>
              <a:rPr lang="en-IN" sz="2400" dirty="0"/>
              <a:t>A. Backend Developer (PHP)</a:t>
            </a:r>
          </a:p>
          <a:p>
            <a:r>
              <a:rPr lang="en-IN" sz="2400" b="1" dirty="0"/>
              <a:t>Core Logic</a:t>
            </a:r>
            <a:r>
              <a:rPr lang="en-IN" sz="2400" dirty="0"/>
              <a:t>: Wrote secure PHP scripts to process forms, manage user login states, and run endpoints (CRUD).</a:t>
            </a:r>
          </a:p>
          <a:p>
            <a:r>
              <a:rPr lang="en-IN" sz="2400" b="1" dirty="0"/>
              <a:t>Integration</a:t>
            </a:r>
            <a:r>
              <a:rPr lang="en-IN" sz="2400" dirty="0"/>
              <a:t>: Connected front-end forms to database transactions using PDO to prevent SQL injection.</a:t>
            </a:r>
          </a:p>
          <a:p>
            <a:r>
              <a:rPr lang="en-IN" sz="2400" dirty="0"/>
              <a:t>B. Database Engineer (MySQL)</a:t>
            </a:r>
          </a:p>
          <a:p>
            <a:r>
              <a:rPr lang="en-IN" sz="2400" b="1" dirty="0"/>
              <a:t>Schema Design</a:t>
            </a:r>
            <a:r>
              <a:rPr lang="en-IN" sz="2400" dirty="0"/>
              <a:t>: Designed and optimized database tables (users, parties, products, </a:t>
            </a:r>
            <a:r>
              <a:rPr lang="en-IN" sz="2400" dirty="0" err="1"/>
              <a:t>sales_bills</a:t>
            </a:r>
            <a:r>
              <a:rPr lang="en-IN" sz="2400" dirty="0"/>
              <a:t>, etc.).</a:t>
            </a:r>
          </a:p>
          <a:p>
            <a:r>
              <a:rPr lang="en-IN" sz="2400" b="1" dirty="0"/>
              <a:t>Schema Migration</a:t>
            </a:r>
            <a:r>
              <a:rPr lang="en-IN" sz="2400" dirty="0"/>
              <a:t>: Wrote migration scripts (</a:t>
            </a:r>
            <a:r>
              <a:rPr lang="en-IN" sz="2400" dirty="0" err="1"/>
              <a:t>setup.php</a:t>
            </a:r>
            <a:r>
              <a:rPr lang="en-IN" sz="2400" dirty="0"/>
              <a:t>) to dynamically update tables when shop settings and bank details were expanded.</a:t>
            </a:r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DC73-8CBE-92EF-7F7D-B6115BF0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BFAA8-BDC3-AE2B-2E6F-65757354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78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B36EA-22B2-D7FC-8B3C-9EF36DD2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7EE4-2B34-F6B2-1D77-02B54748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188"/>
          </a:xfrm>
        </p:spPr>
        <p:txBody>
          <a:bodyPr/>
          <a:lstStyle/>
          <a:p>
            <a:r>
              <a:rPr lang="en-IN" dirty="0"/>
              <a:t>Features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FD57-DD33-072F-742D-A1A21B8C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367"/>
            <a:ext cx="10515600" cy="4692998"/>
          </a:xfrm>
        </p:spPr>
        <p:txBody>
          <a:bodyPr/>
          <a:lstStyle/>
          <a:p>
            <a:r>
              <a:rPr lang="en-IN" sz="2000" dirty="0"/>
              <a:t>Optimized print settings layout (hides menus/buttons automatically when printing)</a:t>
            </a:r>
          </a:p>
          <a:p>
            <a:r>
              <a:rPr lang="en-IN" sz="2000" dirty="0"/>
              <a:t>State-based GST split logic (Intra-state CGST/SGST vs. Inter-state IGST)</a:t>
            </a:r>
          </a:p>
          <a:p>
            <a:r>
              <a:rPr lang="en-IN" sz="2000" dirty="0"/>
              <a:t>Indian currency number-to-words translation engine</a:t>
            </a:r>
          </a:p>
          <a:p>
            <a:r>
              <a:rPr lang="en-IN" sz="2000" dirty="0"/>
              <a:t>TDS/TCS calculations and invoice rendering</a:t>
            </a:r>
          </a:p>
          <a:p>
            <a:r>
              <a:rPr lang="en-IN" sz="2000" dirty="0"/>
              <a:t>Extended system settings for Shop Name, Mobile, Address, State, GSTIN, PAN, and MSME No.</a:t>
            </a:r>
          </a:p>
          <a:p>
            <a:r>
              <a:rPr lang="en-IN" sz="2000" dirty="0"/>
              <a:t>Extended bank details settings (Bank Name, Account No, Account Type, and IFSC code)</a:t>
            </a:r>
          </a:p>
          <a:p>
            <a:r>
              <a:rPr lang="en-IN" sz="2000" dirty="0"/>
              <a:t>Dynamic shop name header loaded across all pages</a:t>
            </a:r>
          </a:p>
          <a:p>
            <a:r>
              <a:rPr lang="en-IN" sz="2000" dirty="0"/>
              <a:t>Cache-busting script updates (prevents browser cache issues)</a:t>
            </a:r>
          </a:p>
          <a:p>
            <a:r>
              <a:rPr lang="en-IN" sz="2000" dirty="0"/>
              <a:t>Global </a:t>
            </a:r>
            <a:r>
              <a:rPr lang="en-IN" sz="2000" dirty="0" err="1"/>
              <a:t>Javascript</a:t>
            </a:r>
            <a:r>
              <a:rPr lang="en-IN" sz="2000" dirty="0"/>
              <a:t> runtime error catcher alerts</a:t>
            </a:r>
          </a:p>
          <a:p>
            <a:r>
              <a:rPr lang="en-IN" sz="2000" dirty="0"/>
              <a:t>Client-side defensive DOM element checks</a:t>
            </a:r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1745D-E048-32A2-6F1D-DF924D26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46BEF-EA0F-9F9A-F0C5-E65F98EB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643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920C8-A79D-5E1E-78CC-B6A78ED0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24794-7707-1341-E3DD-9C959165A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A3157-EE75-E759-C060-C13B087F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FE5CFD-BE04-E63A-C3A6-4560B3E00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580640" y="88642"/>
            <a:ext cx="6477064" cy="60172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0094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3C31-36E4-0973-CC08-B4973788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9F12E-CA50-AC66-59CF-D3413065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25FE7-8CE9-935B-C4E6-E88A5CCE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6EAA51-52BF-544D-F2CA-B43ACFE4B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0480" y="0"/>
            <a:ext cx="12161520" cy="6350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8399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4042E-A8AC-3A7B-BEC4-D2D31E7F7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D8BB6-D861-9765-F39E-DAEC79FED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3820B-EA6D-2E56-8151-56C541FB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FC42D5-AD4B-8E9C-ABCF-0EB71CCD6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2932" y="321944"/>
            <a:ext cx="11846828" cy="61788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5378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FCE2-DBC6-F7F5-B20F-41E7E56B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12FF8-8748-3D0D-F6BA-3F8DFD83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C4F3C-C5CE-90AE-A6C2-F8EBC454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0D1C25-A9A5-A34A-0BF2-C3ED427C0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1280" y="159753"/>
            <a:ext cx="12110720" cy="63410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7039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7E67-07DB-7A04-0FEC-C37098F2A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C938D-FE71-869B-36C9-22C84DAB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B7004-E98C-18D0-0C47-C747A855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0F7142-AC17-7F23-E5C2-3266AE89F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271145"/>
            <a:ext cx="6502400" cy="2990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CD101D-10AC-5E82-AFF9-96394013B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520" y="1"/>
            <a:ext cx="5618480" cy="34289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B1AE69-C03D-2A10-9A68-D2EB4DB17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61360"/>
            <a:ext cx="6502400" cy="30353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888840-82CD-CA0E-189F-8FE27AD89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3428999"/>
            <a:ext cx="5689600" cy="285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37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48BB-7C21-6435-E9EC-F8A83E43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0DC3-9A7D-D35F-9AF4-EF88B386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19188"/>
          </a:xfrm>
        </p:spPr>
        <p:txBody>
          <a:bodyPr/>
          <a:lstStyle/>
          <a:p>
            <a:r>
              <a:rPr lang="en-IN" b="1" dirty="0"/>
              <a:t>Advantages of Taking this Internship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E537F-E0E8-B6BE-8BEA-78F09BB8E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188"/>
            <a:ext cx="10515600" cy="4351338"/>
          </a:xfrm>
        </p:spPr>
        <p:txBody>
          <a:bodyPr/>
          <a:lstStyle/>
          <a:p>
            <a:r>
              <a:rPr lang="en-IN" sz="1800" b="1" dirty="0"/>
              <a:t>I gained hands-on experience in web development.</a:t>
            </a:r>
          </a:p>
          <a:p>
            <a:r>
              <a:rPr lang="en-IN" sz="1800" dirty="0"/>
              <a:t> </a:t>
            </a:r>
            <a:r>
              <a:rPr lang="en-IN" sz="1800" b="1" dirty="0"/>
              <a:t>I improved my practical knowledge of HTML, CSS, JavaScript, PHP, and MySQL.</a:t>
            </a:r>
          </a:p>
          <a:p>
            <a:r>
              <a:rPr lang="en-IN" sz="1800" dirty="0"/>
              <a:t> </a:t>
            </a:r>
            <a:r>
              <a:rPr lang="en-IN" sz="1800" b="1" dirty="0"/>
              <a:t>I learned how to build a complete web application from scratch.</a:t>
            </a:r>
          </a:p>
          <a:p>
            <a:r>
              <a:rPr lang="en-IN" sz="1800" dirty="0"/>
              <a:t> </a:t>
            </a:r>
            <a:r>
              <a:rPr lang="en-IN" sz="1800" b="1" dirty="0"/>
              <a:t>I gained experience in both frontend and backend development.</a:t>
            </a:r>
          </a:p>
          <a:p>
            <a:r>
              <a:rPr lang="en-IN" sz="1800" dirty="0"/>
              <a:t> </a:t>
            </a:r>
            <a:r>
              <a:rPr lang="en-IN" sz="1800" b="1" dirty="0"/>
              <a:t>I learned how to design and manage databases using phpMyAdmin.</a:t>
            </a:r>
          </a:p>
          <a:p>
            <a:r>
              <a:rPr lang="en-IN" sz="1800" dirty="0"/>
              <a:t> </a:t>
            </a:r>
            <a:r>
              <a:rPr lang="en-IN" sz="1800" b="1" dirty="0"/>
              <a:t>I improved my problem-solving and debugging skills.</a:t>
            </a:r>
          </a:p>
          <a:p>
            <a:r>
              <a:rPr lang="en-IN" sz="1800" dirty="0"/>
              <a:t> </a:t>
            </a:r>
            <a:r>
              <a:rPr lang="en-IN" sz="1800" b="1" dirty="0"/>
              <a:t>I understood how different web technologies work together.</a:t>
            </a:r>
            <a:r>
              <a:rPr lang="en-IN" sz="1800" dirty="0"/>
              <a:t> </a:t>
            </a:r>
          </a:p>
          <a:p>
            <a:r>
              <a:rPr lang="en-IN" sz="1800" b="1" dirty="0"/>
              <a:t>I gained confidence in implementing real-world projects independently.</a:t>
            </a:r>
          </a:p>
          <a:p>
            <a:r>
              <a:rPr lang="en-IN" sz="1800" dirty="0"/>
              <a:t> </a:t>
            </a:r>
            <a:r>
              <a:rPr lang="en-IN" sz="1800" b="1" dirty="0"/>
              <a:t>I learned how to write clean and organized code.</a:t>
            </a:r>
          </a:p>
          <a:p>
            <a:r>
              <a:rPr lang="en-IN" sz="1800" dirty="0"/>
              <a:t> </a:t>
            </a:r>
            <a:r>
              <a:rPr lang="en-IN" sz="1800" b="1" dirty="0"/>
              <a:t>This internship prepared me for real-world software development and technical interviews.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E0768-606F-F070-D0EE-2981307B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C17328-A253-4C5B-B2C9-4DA48294863A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83F66-F235-11A5-F193-DE15DD55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8B1524-9549-4C6F-982A-A4BBA9A888C3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221934"/>
      </p:ext>
    </p:extLst>
  </p:cSld>
  <p:clrMapOvr>
    <a:masterClrMapping/>
  </p:clrMapOvr>
</p:sld>
</file>

<file path=ppt/theme/theme1.xml><?xml version="1.0" encoding="utf-8"?>
<a:theme xmlns:a="http://schemas.openxmlformats.org/drawingml/2006/main" name="SPM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SPM</Template>
  <TotalTime>485</TotalTime>
  <Words>976</Words>
  <Application>Microsoft Office PowerPoint</Application>
  <PresentationFormat>Widescreen</PresentationFormat>
  <Paragraphs>135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Times New Roman </vt:lpstr>
      <vt:lpstr>SPM</vt:lpstr>
      <vt:lpstr>Finance Management System</vt:lpstr>
      <vt:lpstr>Agenda</vt:lpstr>
      <vt:lpstr> Finance Management System :  </vt:lpstr>
      <vt:lpstr> Objective For Project </vt:lpstr>
      <vt:lpstr> Objective For Project</vt:lpstr>
      <vt:lpstr> Objective For Project </vt:lpstr>
      <vt:lpstr> Objective For Project </vt:lpstr>
      <vt:lpstr> Objective For Project </vt:lpstr>
      <vt:lpstr>Technologies Used</vt:lpstr>
      <vt:lpstr>Roles &amp; Responsibilities</vt:lpstr>
      <vt:lpstr>Features Implemented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Taking this Internship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KHUSHI PATEL</dc:creator>
  <cp:lastModifiedBy>kyadaabhi07@gmail.com</cp:lastModifiedBy>
  <cp:revision>50</cp:revision>
  <dcterms:created xsi:type="dcterms:W3CDTF">2022-02-24T04:45:00Z</dcterms:created>
  <dcterms:modified xsi:type="dcterms:W3CDTF">2026-07-01T04:31:51Z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0EBC773727BD46D19B14459F72D2E2E6_12</vt:lpwstr>
  </property>
  <property fmtid="{D5CDD505-2E9C-101B-9397-08002B2CF9AE}" pid="3" name="KSOProductBuildVer">
    <vt:lpwstr>1033-12.2.0.16731</vt:lpwstr>
  </property>
</Properties>
</file>